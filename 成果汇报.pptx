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42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0/relay5/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0/relay5/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0/relay5/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0/relay5/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56DB"/>
                </a:solidFill>
              </a:defRPr>
            </a:pPr>
            <a:r>
              <a:t>基于出租车GPS数据的</a:t>
            </a:r>
          </a:p>
          <a:p>
            <a:pPr algn="ctr">
              <a:spcBef>
                <a:spcPts val="800"/>
              </a:spcBef>
              <a:defRPr sz="4400" b="1">
                <a:solidFill>
                  <a:srgbClr val="1A1A1A"/>
                </a:solidFill>
              </a:defRPr>
            </a:pPr>
            <a:r>
              <a:t>城市交通时空特征提取及可视化项目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560320"/>
            <a:ext cx="393192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</a:defRPr>
            </a:pPr>
            <a:r>
              <a:t>出租车(济南)大数据服务平台 | 项目答辩汇报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08176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rPr dirty="0" err="1"/>
              <a:t>项目背景与核心问题</a:t>
            </a:r>
            <a:endParaRPr dirty="0"/>
          </a:p>
        </p:txBody>
      </p:sp>
      <p:sp>
        <p:nvSpPr>
          <p:cNvPr id="8" name="Oval 7"/>
          <p:cNvSpPr/>
          <p:nvPr/>
        </p:nvSpPr>
        <p:spPr>
          <a:xfrm>
            <a:off x="914400" y="2029967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756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66543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rPr dirty="0" err="1"/>
              <a:t>团队分工与工作量</a:t>
            </a:r>
            <a:endParaRPr dirty="0"/>
          </a:p>
        </p:txBody>
      </p:sp>
      <p:sp>
        <p:nvSpPr>
          <p:cNvPr id="11" name="Oval 10"/>
          <p:cNvSpPr/>
          <p:nvPr/>
        </p:nvSpPr>
        <p:spPr>
          <a:xfrm>
            <a:off x="914400" y="2688336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7340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2491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数据分析方法论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346704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3924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3832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核心发现：客流时空规律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005072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0507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04164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核心发现：天气与距离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66344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700016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核心发现：道路拥堵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321808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367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358384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可视化成果展示(4页)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980176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60258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601675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城市交通面临严峻挑战，传统管理方式难以为继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C3535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拥堵加剧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37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济南高峰期主干道车速不足15km/h，通勤时间延长30%以上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C3535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23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空驶浪费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88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出租车空驶率高达35%-40%，司机找客难、乘客打车难并存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C3535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474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经验决策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交通调度凭经验而非数据，资源错配导致效率低下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262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C3535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5262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缺乏量化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8920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城市规划缺少对居民出行行为的系统量化分析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371600"/>
            <a:ext cx="4846320" cy="20116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50876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150万+ 条GPS记录</a:t>
            </a:r>
          </a:p>
          <a:p>
            <a:pPr algn="l">
              <a:spcBef>
                <a:spcPts val="0"/>
              </a:spcBef>
              <a:defRPr sz="1600" b="0">
                <a:solidFill>
                  <a:srgbClr val="FFFFFF"/>
                </a:solidFill>
              </a:defRPr>
            </a:pPr>
            <a:r>
              <a:t>覆盖10个行政区</a:t>
            </a:r>
          </a:p>
          <a:p>
            <a:pPr algn="l">
              <a:spcBef>
                <a:spcPts val="0"/>
              </a:spcBef>
              <a:defRPr sz="1600" b="0">
                <a:solidFill>
                  <a:srgbClr val="FFFFFF"/>
                </a:solidFill>
              </a:defRPr>
            </a:pPr>
            <a:r>
              <a:t>连续7天完整数据</a:t>
            </a:r>
          </a:p>
          <a:p>
            <a:pPr algn="l">
              <a:spcBef>
                <a:spcPts val="0"/>
              </a:spcBef>
              <a:defRPr sz="1600" b="0">
                <a:solidFill>
                  <a:srgbClr val="FFFFFF"/>
                </a:solidFill>
              </a:defRPr>
            </a:pPr>
            <a:r>
              <a:t>配套天气多维数据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749039"/>
            <a:ext cx="4846320" cy="2011680"/>
          </a:xfrm>
          <a:prstGeom prst="round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0" y="3886199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5大核心研究问题</a:t>
            </a:r>
          </a:p>
          <a:p>
            <a:pPr algn="l">
              <a:spcBef>
                <a:spcPts val="0"/>
              </a:spcBef>
              <a:defRPr sz="1600" b="0">
                <a:solidFill>
                  <a:srgbClr val="FFFFFF"/>
                </a:solidFill>
              </a:defRPr>
            </a:pPr>
            <a:r>
              <a:t>4维度数据洞察</a:t>
            </a:r>
          </a:p>
          <a:p>
            <a:pPr algn="l">
              <a:spcBef>
                <a:spcPts val="0"/>
              </a:spcBef>
              <a:defRPr sz="1600" b="0">
                <a:solidFill>
                  <a:srgbClr val="FFFFFF"/>
                </a:solidFill>
              </a:defRPr>
            </a:pPr>
            <a:r>
              <a:t>10个可视化模块</a:t>
            </a:r>
          </a:p>
          <a:p>
            <a:pPr algn="l">
              <a:spcBef>
                <a:spcPts val="0"/>
              </a:spcBef>
              <a:defRPr sz="1600" b="0">
                <a:solidFill>
                  <a:srgbClr val="FFFFFF"/>
                </a:solidFill>
              </a:defRPr>
            </a:pPr>
            <a:r>
              <a:t>6项量化发现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我们拥有高质量的济南市出租车GPS轨迹数据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56DB"/>
                </a:solidFill>
              </a:defRPr>
            </a:pPr>
            <a:r>
              <a:rPr dirty="0"/>
              <a:t>150万+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GPS数据记录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88"/>
                </a:solidFill>
              </a:defRPr>
            </a:pPr>
            <a:r>
              <a:rPr dirty="0"/>
              <a:t>10个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覆盖行政区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6C00"/>
                </a:solidFill>
              </a:defRPr>
            </a:pPr>
            <a:r>
              <a:rPr dirty="0"/>
              <a:t>7天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连续时间跨度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8B57"/>
                </a:solidFill>
              </a:defRPr>
            </a:pPr>
            <a:r>
              <a:t>96.2%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数据有效率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B4BD8"/>
                </a:solidFill>
              </a:defRPr>
            </a:pPr>
            <a:r>
              <a:rPr dirty="0"/>
              <a:t>144万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有效出租车行程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6155"/>
            <a:ext cx="6664202" cy="2683831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657600"/>
            <a:ext cx="594360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rPr sz="1600" dirty="0" err="1"/>
              <a:t>数据字段</a:t>
            </a:r>
            <a:r>
              <a:rPr sz="1600" dirty="0"/>
              <a:t>: </a:t>
            </a:r>
            <a:r>
              <a:rPr sz="1600" dirty="0" err="1"/>
              <a:t>车辆ID</a:t>
            </a:r>
            <a:r>
              <a:rPr sz="1600" dirty="0"/>
              <a:t> | </a:t>
            </a:r>
            <a:r>
              <a:rPr sz="1600" dirty="0" err="1"/>
              <a:t>时间戳</a:t>
            </a:r>
            <a:r>
              <a:rPr sz="1600" dirty="0"/>
              <a:t> | </a:t>
            </a:r>
            <a:r>
              <a:rPr sz="1600" dirty="0" err="1"/>
              <a:t>经度</a:t>
            </a:r>
            <a:r>
              <a:rPr sz="1600" dirty="0"/>
              <a:t> | </a:t>
            </a:r>
            <a:r>
              <a:rPr sz="1600" dirty="0" err="1"/>
              <a:t>纬度</a:t>
            </a:r>
            <a:r>
              <a:rPr sz="1600" dirty="0"/>
              <a:t> | </a:t>
            </a:r>
            <a:r>
              <a:rPr sz="1600" dirty="0" err="1"/>
              <a:t>瞬时速度</a:t>
            </a:r>
            <a:r>
              <a:rPr sz="1600" dirty="0"/>
              <a:t> | </a:t>
            </a:r>
            <a:r>
              <a:rPr sz="1600" dirty="0" err="1"/>
              <a:t>载客状态</a:t>
            </a:r>
            <a:r>
              <a:rPr sz="1600" dirty="0"/>
              <a:t> | </a:t>
            </a:r>
            <a:r>
              <a:rPr sz="1600" dirty="0" err="1"/>
              <a:t>方向角</a:t>
            </a:r>
            <a:endParaRPr sz="1600" dirty="0"/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r>
              <a:rPr sz="1600" dirty="0" err="1"/>
              <a:t>天气数据</a:t>
            </a:r>
            <a:r>
              <a:rPr sz="1600" dirty="0"/>
              <a:t>: </a:t>
            </a:r>
            <a:r>
              <a:rPr sz="1600" dirty="0" err="1"/>
              <a:t>温度</a:t>
            </a:r>
            <a:r>
              <a:rPr sz="1600" dirty="0"/>
              <a:t> | </a:t>
            </a:r>
            <a:r>
              <a:rPr sz="1600" dirty="0" err="1"/>
              <a:t>湿度</a:t>
            </a:r>
            <a:r>
              <a:rPr sz="1600" dirty="0"/>
              <a:t> | </a:t>
            </a:r>
            <a:r>
              <a:rPr sz="1600" dirty="0" err="1"/>
              <a:t>降雨量</a:t>
            </a:r>
            <a:r>
              <a:rPr sz="1600" dirty="0"/>
              <a:t> | </a:t>
            </a:r>
            <a:r>
              <a:rPr sz="1600" dirty="0" err="1"/>
              <a:t>气压</a:t>
            </a:r>
            <a:r>
              <a:rPr sz="1600" dirty="0"/>
              <a:t> | </a:t>
            </a:r>
            <a:r>
              <a:rPr sz="1600" dirty="0" err="1"/>
              <a:t>按小时粒度对齐</a:t>
            </a:r>
            <a:endParaRPr sz="1600" dirty="0"/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r>
              <a:rPr sz="1600" dirty="0" err="1"/>
              <a:t>地理覆盖</a:t>
            </a:r>
            <a:r>
              <a:rPr sz="1600" dirty="0"/>
              <a:t>: </a:t>
            </a:r>
            <a:r>
              <a:rPr sz="1600" dirty="0" err="1"/>
              <a:t>历下区</a:t>
            </a:r>
            <a:r>
              <a:rPr sz="1600" dirty="0"/>
              <a:t>/</a:t>
            </a:r>
            <a:r>
              <a:rPr sz="1600" dirty="0" err="1"/>
              <a:t>市中区</a:t>
            </a:r>
            <a:r>
              <a:rPr sz="1600" dirty="0"/>
              <a:t>/</a:t>
            </a:r>
            <a:r>
              <a:rPr sz="1600" dirty="0" err="1"/>
              <a:t>天桥区</a:t>
            </a:r>
            <a:r>
              <a:rPr sz="1600" dirty="0"/>
              <a:t>/</a:t>
            </a:r>
            <a:r>
              <a:rPr sz="1600" dirty="0" err="1"/>
              <a:t>槐荫区</a:t>
            </a:r>
            <a:r>
              <a:rPr sz="1600" dirty="0"/>
              <a:t>/</a:t>
            </a:r>
            <a:r>
              <a:rPr sz="1600" dirty="0" err="1"/>
              <a:t>历城区</a:t>
            </a:r>
            <a:r>
              <a:rPr sz="1600" dirty="0"/>
              <a:t>/</a:t>
            </a:r>
            <a:r>
              <a:rPr sz="1600" dirty="0" err="1"/>
              <a:t>章丘区</a:t>
            </a:r>
            <a:r>
              <a:rPr sz="1600" dirty="0"/>
              <a:t>/</a:t>
            </a:r>
            <a:r>
              <a:rPr sz="1600" dirty="0" err="1"/>
              <a:t>长清区</a:t>
            </a:r>
            <a:r>
              <a:rPr sz="1600" dirty="0"/>
              <a:t>/平阴县等10区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031170"/>
            <a:ext cx="4314058" cy="2683831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0" y="3566161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dirty="0"/>
              <a:t>Q1 </a:t>
            </a:r>
            <a:r>
              <a:rPr dirty="0" err="1"/>
              <a:t>客流时空分布规律</a:t>
            </a:r>
            <a:r>
              <a:rPr dirty="0"/>
              <a:t>？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</a:defRPr>
            </a:pPr>
            <a:r>
              <a:rPr dirty="0"/>
              <a:t>Q2 </a:t>
            </a:r>
            <a:r>
              <a:rPr dirty="0" err="1"/>
              <a:t>工作日与周末差异</a:t>
            </a:r>
            <a:r>
              <a:rPr dirty="0"/>
              <a:t>？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</a:defRPr>
            </a:pPr>
            <a:r>
              <a:rPr dirty="0"/>
              <a:t>Q3 </a:t>
            </a:r>
            <a:r>
              <a:rPr dirty="0" err="1"/>
              <a:t>天气如何影响出行</a:t>
            </a:r>
            <a:r>
              <a:rPr dirty="0"/>
              <a:t>？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</a:defRPr>
            </a:pPr>
            <a:r>
              <a:rPr dirty="0"/>
              <a:t>Q4 </a:t>
            </a:r>
            <a:r>
              <a:rPr dirty="0" err="1"/>
              <a:t>出行距离分布特征</a:t>
            </a:r>
            <a:r>
              <a:rPr dirty="0"/>
              <a:t>？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</a:defRPr>
            </a:pPr>
            <a:r>
              <a:rPr dirty="0"/>
              <a:t>Q5 </a:t>
            </a:r>
            <a:r>
              <a:rPr dirty="0" err="1"/>
              <a:t>道路拥堵程度如何</a:t>
            </a:r>
            <a:r>
              <a:rPr dirty="0"/>
              <a:t>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五步分析流水线：从原始GPS数据到可视化洞察</a:t>
            </a:r>
          </a:p>
        </p:txBody>
      </p:sp>
      <p:sp>
        <p:nvSpPr>
          <p:cNvPr id="4" name="Oval 3"/>
          <p:cNvSpPr/>
          <p:nvPr/>
        </p:nvSpPr>
        <p:spPr>
          <a:xfrm>
            <a:off x="975207" y="1280160"/>
            <a:ext cx="914400" cy="914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5207" y="143560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38247" y="1508760"/>
            <a:ext cx="320040" cy="27432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6567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8B57"/>
                </a:solidFill>
              </a:defRPr>
            </a:pPr>
            <a:r>
              <a:t>数据预处理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567" y="27889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GPS清洗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333333"/>
                </a:solidFill>
              </a:defRPr>
            </a:pPr>
            <a:r>
              <a:t>异常过滤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333333"/>
                </a:solidFill>
              </a:defRPr>
            </a:pPr>
            <a:r>
              <a:t>格式标准化</a:t>
            </a:r>
          </a:p>
        </p:txBody>
      </p:sp>
      <p:sp>
        <p:nvSpPr>
          <p:cNvPr id="9" name="Oval 8"/>
          <p:cNvSpPr/>
          <p:nvPr/>
        </p:nvSpPr>
        <p:spPr>
          <a:xfrm>
            <a:off x="3306927" y="1280160"/>
            <a:ext cx="914400" cy="9144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06927" y="143560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69967" y="1508760"/>
            <a:ext cx="320040" cy="27432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58287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</a:defRPr>
            </a:pPr>
            <a:r>
              <a:t>OD提取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287" y="27889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上下客识别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333333"/>
                </a:solidFill>
              </a:defRPr>
            </a:pPr>
            <a:r>
              <a:t>经纬度匹配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333333"/>
                </a:solidFill>
              </a:defRPr>
            </a:pPr>
            <a:r>
              <a:t>行程划分</a:t>
            </a:r>
          </a:p>
        </p:txBody>
      </p:sp>
      <p:sp>
        <p:nvSpPr>
          <p:cNvPr id="14" name="Oval 13"/>
          <p:cNvSpPr/>
          <p:nvPr/>
        </p:nvSpPr>
        <p:spPr>
          <a:xfrm>
            <a:off x="5638647" y="1280160"/>
            <a:ext cx="914400" cy="914400"/>
          </a:xfrm>
          <a:prstGeom prst="ellipse">
            <a:avLst/>
          </a:prstGeom>
          <a:solidFill>
            <a:srgbClr val="7B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38647" y="143560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01687" y="1508760"/>
            <a:ext cx="320040" cy="27432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90007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4BD8"/>
                </a:solidFill>
              </a:defRPr>
            </a:pPr>
            <a:r>
              <a:rPr dirty="0" err="1"/>
              <a:t>时空聚类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090007" y="27889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dirty="0" err="1"/>
              <a:t>DBSCAN算法</a:t>
            </a:r>
            <a:endParaRPr dirty="0"/>
          </a:p>
          <a:p>
            <a:pPr algn="ctr">
              <a:spcBef>
                <a:spcPts val="300"/>
              </a:spcBef>
              <a:defRPr sz="1200" b="0">
                <a:solidFill>
                  <a:srgbClr val="333333"/>
                </a:solidFill>
              </a:defRPr>
            </a:pPr>
            <a:r>
              <a:rPr dirty="0"/>
              <a:t>ep=110m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333333"/>
                </a:solidFill>
              </a:defRPr>
            </a:pPr>
            <a:r>
              <a:rPr dirty="0" err="1"/>
              <a:t>MinPts</a:t>
            </a:r>
            <a:r>
              <a:rPr dirty="0"/>
              <a:t>=30</a:t>
            </a:r>
          </a:p>
        </p:txBody>
      </p:sp>
      <p:sp>
        <p:nvSpPr>
          <p:cNvPr id="19" name="Oval 18"/>
          <p:cNvSpPr/>
          <p:nvPr/>
        </p:nvSpPr>
        <p:spPr>
          <a:xfrm>
            <a:off x="7970367" y="1280160"/>
            <a:ext cx="914400" cy="914400"/>
          </a:xfrm>
          <a:prstGeom prst="ellipse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0367" y="143560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433407" y="1508760"/>
            <a:ext cx="320040" cy="27432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21727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6C00"/>
                </a:solidFill>
              </a:defRPr>
            </a:pPr>
            <a:r>
              <a:t>特征提取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1727" y="27889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客流矩阵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333333"/>
                </a:solidFill>
              </a:defRPr>
            </a:pPr>
            <a:r>
              <a:t>距离分布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333333"/>
                </a:solidFill>
              </a:defRPr>
            </a:pPr>
            <a:r>
              <a:t>速度统计</a:t>
            </a:r>
          </a:p>
        </p:txBody>
      </p:sp>
      <p:sp>
        <p:nvSpPr>
          <p:cNvPr id="24" name="Oval 23"/>
          <p:cNvSpPr/>
          <p:nvPr/>
        </p:nvSpPr>
        <p:spPr>
          <a:xfrm>
            <a:off x="10302087" y="1280160"/>
            <a:ext cx="914400" cy="914400"/>
          </a:xfrm>
          <a:prstGeom prst="ellipse">
            <a:avLst/>
          </a:prstGeom>
          <a:solidFill>
            <a:srgbClr val="DC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02087" y="143560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3447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3535"/>
                </a:solidFill>
              </a:defRPr>
            </a:pPr>
            <a:r>
              <a:t>关联分析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3447" y="27889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dirty="0" err="1"/>
              <a:t>皮尔逊相关</a:t>
            </a:r>
            <a:endParaRPr dirty="0"/>
          </a:p>
          <a:p>
            <a:pPr algn="ctr">
              <a:spcBef>
                <a:spcPts val="300"/>
              </a:spcBef>
              <a:defRPr sz="1200" b="0">
                <a:solidFill>
                  <a:srgbClr val="333333"/>
                </a:solidFill>
              </a:defRPr>
            </a:pPr>
            <a:r>
              <a:rPr dirty="0" err="1"/>
              <a:t>天气回归</a:t>
            </a:r>
            <a:endParaRPr dirty="0"/>
          </a:p>
          <a:p>
            <a:pPr algn="ctr">
              <a:spcBef>
                <a:spcPts val="300"/>
              </a:spcBef>
              <a:defRPr sz="1200" b="0">
                <a:solidFill>
                  <a:srgbClr val="333333"/>
                </a:solidFill>
              </a:defRPr>
            </a:pPr>
            <a:r>
              <a:rPr dirty="0" err="1"/>
              <a:t>时空可视化</a:t>
            </a:r>
            <a:endParaRPr dirty="0"/>
          </a:p>
        </p:txBody>
      </p:sp>
      <p:sp>
        <p:nvSpPr>
          <p:cNvPr id="28" name="Rounded Rectangle 27"/>
          <p:cNvSpPr/>
          <p:nvPr/>
        </p:nvSpPr>
        <p:spPr>
          <a:xfrm>
            <a:off x="548640" y="4114800"/>
            <a:ext cx="5303520" cy="21031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2519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rPr dirty="0" err="1"/>
              <a:t>DBSCAN聚类</a:t>
            </a:r>
            <a:r>
              <a:rPr dirty="0"/>
              <a:t> -- </a:t>
            </a:r>
            <a:r>
              <a:rPr dirty="0" err="1"/>
              <a:t>为什么优于K</a:t>
            </a:r>
            <a:r>
              <a:rPr dirty="0"/>
              <a:t>-Means？</a:t>
            </a:r>
          </a:p>
          <a:p>
            <a:pPr algn="l">
              <a:spcBef>
                <a:spcPts val="1000"/>
              </a:spcBef>
              <a:defRPr sz="1300" b="0">
                <a:solidFill>
                  <a:srgbClr val="333333"/>
                </a:solidFill>
              </a:defRPr>
            </a:pPr>
            <a:r>
              <a:rPr dirty="0"/>
              <a:t>- </a:t>
            </a:r>
            <a:r>
              <a:rPr dirty="0" err="1"/>
              <a:t>不需要预先指定簇数量，自动发现任意形状热点</a:t>
            </a:r>
            <a:endParaRPr dirty="0"/>
          </a:p>
          <a:p>
            <a:pPr algn="l">
              <a:spcBef>
                <a:spcPts val="1000"/>
              </a:spcBef>
              <a:defRPr sz="1300" b="0">
                <a:solidFill>
                  <a:srgbClr val="333333"/>
                </a:solidFill>
              </a:defRPr>
            </a:pPr>
            <a:r>
              <a:rPr dirty="0"/>
              <a:t>- epsilon=0.001度(约110米)，</a:t>
            </a:r>
            <a:r>
              <a:rPr dirty="0" err="1"/>
              <a:t>灵活定义邻域范围</a:t>
            </a:r>
            <a:endParaRPr dirty="0"/>
          </a:p>
          <a:p>
            <a:pPr algn="l">
              <a:spcBef>
                <a:spcPts val="1000"/>
              </a:spcBef>
              <a:defRPr sz="1300" b="0">
                <a:solidFill>
                  <a:srgbClr val="333333"/>
                </a:solidFill>
              </a:defRPr>
            </a:pPr>
            <a:r>
              <a:rPr dirty="0"/>
              <a:t>- </a:t>
            </a:r>
            <a:r>
              <a:rPr dirty="0" err="1"/>
              <a:t>MinPts</a:t>
            </a:r>
            <a:r>
              <a:rPr dirty="0"/>
              <a:t>=30，过滤零星载客点，只保留真正热点区</a:t>
            </a:r>
          </a:p>
          <a:p>
            <a:pPr algn="l">
              <a:spcBef>
                <a:spcPts val="1000"/>
              </a:spcBef>
              <a:defRPr sz="1300" b="0">
                <a:solidFill>
                  <a:srgbClr val="333333"/>
                </a:solidFill>
              </a:defRPr>
            </a:pPr>
            <a:r>
              <a:rPr dirty="0"/>
              <a:t>- </a:t>
            </a:r>
            <a:r>
              <a:rPr dirty="0" err="1"/>
              <a:t>聚类结果与济南商圈、交通枢纽、医院等POI高度吻合</a:t>
            </a:r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6217920" y="4114800"/>
            <a:ext cx="5486400" cy="21031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42519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rPr dirty="0" err="1"/>
              <a:t>皮尔逊相关系数</a:t>
            </a:r>
            <a:r>
              <a:rPr dirty="0"/>
              <a:t> -- </a:t>
            </a:r>
            <a:r>
              <a:rPr dirty="0" err="1"/>
              <a:t>量化天气与客流关系</a:t>
            </a:r>
            <a:endParaRPr dirty="0"/>
          </a:p>
          <a:p>
            <a:pPr algn="l">
              <a:spcBef>
                <a:spcPts val="1000"/>
              </a:spcBef>
              <a:defRPr sz="1300" b="0">
                <a:solidFill>
                  <a:srgbClr val="333333"/>
                </a:solidFill>
              </a:defRPr>
            </a:pPr>
            <a:r>
              <a:rPr dirty="0"/>
              <a:t>- r = Cov(X,Y) / (</a:t>
            </a:r>
            <a:r>
              <a:rPr dirty="0" err="1"/>
              <a:t>stdX</a:t>
            </a:r>
            <a:r>
              <a:rPr dirty="0"/>
              <a:t> x </a:t>
            </a:r>
            <a:r>
              <a:rPr dirty="0" err="1"/>
              <a:t>stdY</a:t>
            </a:r>
            <a:r>
              <a:rPr dirty="0"/>
              <a:t>)，</a:t>
            </a:r>
            <a:r>
              <a:rPr dirty="0" err="1"/>
              <a:t>衡量线性相关强度</a:t>
            </a:r>
            <a:endParaRPr dirty="0"/>
          </a:p>
          <a:p>
            <a:pPr algn="l">
              <a:spcBef>
                <a:spcPts val="1000"/>
              </a:spcBef>
              <a:defRPr sz="1300" b="0">
                <a:solidFill>
                  <a:srgbClr val="333333"/>
                </a:solidFill>
              </a:defRPr>
            </a:pPr>
            <a:r>
              <a:rPr dirty="0"/>
              <a:t>- |r|&gt;0.5强相关 | 0.3&lt;|r|&lt;=0.5中等 | |r|&lt;=0.3弱</a:t>
            </a:r>
          </a:p>
          <a:p>
            <a:pPr algn="l">
              <a:spcBef>
                <a:spcPts val="1000"/>
              </a:spcBef>
              <a:defRPr sz="1300" b="0">
                <a:solidFill>
                  <a:srgbClr val="333333"/>
                </a:solidFill>
              </a:defRPr>
            </a:pPr>
            <a:r>
              <a:rPr dirty="0"/>
              <a:t>- </a:t>
            </a:r>
            <a:r>
              <a:rPr dirty="0" err="1"/>
              <a:t>将小时级温度</a:t>
            </a:r>
            <a:r>
              <a:rPr dirty="0"/>
              <a:t>/</a:t>
            </a:r>
            <a:r>
              <a:rPr dirty="0" err="1"/>
              <a:t>湿度</a:t>
            </a:r>
            <a:r>
              <a:rPr dirty="0"/>
              <a:t>/</a:t>
            </a:r>
            <a:r>
              <a:rPr dirty="0" err="1"/>
              <a:t>降雨量与客流量逐一配对计算</a:t>
            </a:r>
            <a:endParaRPr dirty="0"/>
          </a:p>
          <a:p>
            <a:pPr algn="l">
              <a:spcBef>
                <a:spcPts val="1000"/>
              </a:spcBef>
              <a:defRPr sz="1300" b="0">
                <a:solidFill>
                  <a:srgbClr val="333333"/>
                </a:solidFill>
              </a:defRPr>
            </a:pPr>
            <a:r>
              <a:rPr dirty="0"/>
              <a:t>- </a:t>
            </a:r>
            <a:r>
              <a:rPr dirty="0" err="1"/>
              <a:t>清晰揭示了天气对济南市民出行决策的影响程度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FINDING 1 / 客流时空规律</a:t>
            </a:r>
          </a:p>
        </p:txBody>
      </p:sp>
      <p:pic>
        <p:nvPicPr>
          <p:cNvPr id="5" name="Picture 4" descr="viz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42444" y="92514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rPr sz="2400" dirty="0" err="1"/>
              <a:t>客流峰谷比</a:t>
            </a:r>
            <a:endParaRPr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8591266" y="1530258"/>
            <a:ext cx="3357348" cy="347608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48495" y="1839549"/>
            <a:ext cx="2743200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1600" dirty="0" err="1"/>
              <a:t>晚高峰</a:t>
            </a:r>
            <a:r>
              <a:rPr sz="1600" dirty="0"/>
              <a:t> 21:00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b="1" dirty="0"/>
              <a:t>13,036 单/</a:t>
            </a:r>
            <a:r>
              <a:rPr sz="1600" b="1" dirty="0" err="1"/>
              <a:t>小时</a:t>
            </a:r>
            <a:endParaRPr sz="1600" b="1"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dirty="0" err="1"/>
              <a:t>早高峰</a:t>
            </a:r>
            <a:r>
              <a:rPr sz="1600" dirty="0"/>
              <a:t> 8:00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b="1" dirty="0"/>
              <a:t>12,847 单/</a:t>
            </a:r>
            <a:r>
              <a:rPr sz="1600" b="1" dirty="0" err="1"/>
              <a:t>小时</a:t>
            </a:r>
            <a:endParaRPr sz="1600" b="1"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dirty="0" err="1"/>
              <a:t>凌晨</a:t>
            </a:r>
            <a:r>
              <a:rPr sz="1600" dirty="0"/>
              <a:t> 4:00 </a:t>
            </a:r>
            <a:r>
              <a:rPr sz="1600" dirty="0" err="1"/>
              <a:t>低谷</a:t>
            </a:r>
            <a:endParaRPr sz="1600"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dirty="0"/>
              <a:t>仅 1,408 单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dirty="0" err="1"/>
              <a:t>周末</a:t>
            </a:r>
            <a:r>
              <a:rPr sz="1600" dirty="0"/>
              <a:t> &gt; </a:t>
            </a:r>
            <a:r>
              <a:rPr sz="1600" dirty="0" err="1"/>
              <a:t>工作日</a:t>
            </a:r>
            <a:endParaRPr sz="1600"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b="1" dirty="0" err="1"/>
              <a:t>高出</a:t>
            </a:r>
            <a:r>
              <a:rPr sz="1600" b="1" dirty="0"/>
              <a:t> 5.9%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212080"/>
            <a:ext cx="11247120" cy="640080"/>
          </a:xfrm>
          <a:prstGeom prst="round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5285232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 err="1"/>
              <a:t>济南出租车需求并非纯通勤驱动</a:t>
            </a:r>
            <a:r>
              <a:rPr dirty="0"/>
              <a:t> -- </a:t>
            </a:r>
            <a:r>
              <a:rPr dirty="0" err="1"/>
              <a:t>夜间休闲出行占比大，周末出行量反超工作日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FINDING 2 / 天气对出行的影响</a:t>
            </a:r>
          </a:p>
        </p:txBody>
      </p:sp>
      <p:pic>
        <p:nvPicPr>
          <p:cNvPr id="5" name="Picture 4" descr="viz_we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2520" y="1033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rPr sz="2400" dirty="0" err="1"/>
              <a:t>温度-客流相关系数</a:t>
            </a:r>
            <a:endParaRPr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8585805" y="1810512"/>
            <a:ext cx="3260451" cy="31729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88666" y="2078462"/>
            <a:ext cx="2743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1600" dirty="0" err="1"/>
              <a:t>温度与客流</a:t>
            </a:r>
            <a:r>
              <a:rPr sz="1600" dirty="0"/>
              <a:t> r=+0.595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b="1" dirty="0" err="1"/>
              <a:t>暖和天出行更活跃</a:t>
            </a:r>
            <a:endParaRPr sz="1600" b="1"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dirty="0" err="1"/>
              <a:t>湿度与客流</a:t>
            </a:r>
            <a:r>
              <a:rPr sz="1600" dirty="0"/>
              <a:t> r=-0.554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b="1" dirty="0" err="1"/>
              <a:t>潮湿天出行减少</a:t>
            </a:r>
            <a:endParaRPr sz="1600" b="1"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dirty="0" err="1"/>
              <a:t>降雨与客流</a:t>
            </a:r>
            <a:r>
              <a:rPr sz="1600" dirty="0"/>
              <a:t> r=-0.089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b="1" dirty="0" err="1"/>
              <a:t>数据期内降雨偏少</a:t>
            </a:r>
            <a:endParaRPr sz="1600" b="1"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b="1" dirty="0" err="1"/>
              <a:t>影响尚不显著</a:t>
            </a:r>
            <a:endParaRPr sz="16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457200" y="5212080"/>
            <a:ext cx="11247120" cy="6400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5285232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天气是最易获取但最被低估的调度变量 -- 温度每升1度，客流约增3.2%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FINDING 3 / 出行距离分布</a:t>
            </a:r>
          </a:p>
        </p:txBody>
      </p:sp>
      <p:pic>
        <p:nvPicPr>
          <p:cNvPr id="5" name="Picture 4" descr="viz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27121" y="9053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rPr dirty="0"/>
              <a:t>出行在3公里以内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1140" y="1292443"/>
            <a:ext cx="3372362" cy="366046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30951" y="1536440"/>
            <a:ext cx="2743200" cy="3334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1600" dirty="0" err="1"/>
              <a:t>近程</a:t>
            </a:r>
            <a:r>
              <a:rPr sz="1600" dirty="0"/>
              <a:t> &lt; 3km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b="1" dirty="0"/>
              <a:t>56.2% | 809,762单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dirty="0" err="1"/>
              <a:t>短途接驳是核心场景</a:t>
            </a:r>
            <a:endParaRPr sz="1600"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dirty="0" err="1"/>
              <a:t>中程</a:t>
            </a:r>
            <a:r>
              <a:rPr sz="1600" dirty="0"/>
              <a:t> 3-10km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b="1" dirty="0"/>
              <a:t>31.3% | 451,407单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dirty="0" err="1"/>
              <a:t>典型市内通勤距离</a:t>
            </a:r>
            <a:endParaRPr sz="1600"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dirty="0" err="1"/>
              <a:t>远程</a:t>
            </a:r>
            <a:r>
              <a:rPr sz="1600" dirty="0"/>
              <a:t> &gt; 10km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b="1" dirty="0"/>
              <a:t>12.5% | 179,706单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dirty="0" err="1"/>
              <a:t>机场</a:t>
            </a:r>
            <a:r>
              <a:rPr sz="1600" dirty="0"/>
              <a:t>/</a:t>
            </a:r>
            <a:r>
              <a:rPr sz="1600" dirty="0" err="1"/>
              <a:t>火车站</a:t>
            </a:r>
            <a:r>
              <a:rPr sz="1600" dirty="0"/>
              <a:t>/</a:t>
            </a:r>
            <a:r>
              <a:rPr sz="1600" dirty="0" err="1"/>
              <a:t>跨区</a:t>
            </a:r>
            <a:endParaRPr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457200" y="5212080"/>
            <a:ext cx="11247120" cy="6400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5285232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短途是量的保障，远程是利的来源 -- 差异化定价策略可最大化平台收益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FINDING 4 / 道路拥堵与车速分析</a:t>
            </a:r>
          </a:p>
        </p:txBody>
      </p:sp>
      <p:pic>
        <p:nvPicPr>
          <p:cNvPr id="5" name="Picture 4" descr="viz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2520" y="10444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rPr sz="2400" dirty="0" err="1"/>
              <a:t>时段拥堵或缓行</a:t>
            </a:r>
            <a:endParaRPr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8609691" y="1651379"/>
            <a:ext cx="3200400" cy="3240661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24893" y="1979047"/>
            <a:ext cx="2743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1600" dirty="0" err="1"/>
              <a:t>平均车速</a:t>
            </a:r>
            <a:r>
              <a:rPr sz="1600" dirty="0"/>
              <a:t>: 17.1 km/h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b="1" dirty="0" err="1"/>
              <a:t>拥堵</a:t>
            </a:r>
            <a:r>
              <a:rPr sz="1600" b="1" dirty="0"/>
              <a:t>(&lt;14): 25.9%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b="1" dirty="0" err="1"/>
              <a:t>缓行</a:t>
            </a:r>
            <a:r>
              <a:rPr sz="1600" b="1" dirty="0"/>
              <a:t>(14-18): 35.0%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b="1" dirty="0" err="1"/>
              <a:t>畅通</a:t>
            </a:r>
            <a:r>
              <a:rPr sz="1600" b="1" dirty="0"/>
              <a:t>(&gt;18): 仅 39.1%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dirty="0" err="1"/>
              <a:t>日均载客</a:t>
            </a:r>
            <a:r>
              <a:rPr sz="1600" dirty="0"/>
              <a:t>: 143辆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dirty="0"/>
              <a:t>峰值275 -&gt; 低谷2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1600" b="1" dirty="0" err="1"/>
              <a:t>潮汐现象严重</a:t>
            </a:r>
            <a:endParaRPr sz="16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457200" y="5212080"/>
            <a:ext cx="11247120" cy="640080"/>
          </a:xfrm>
          <a:prstGeom prst="roundRect">
            <a:avLst/>
          </a:prstGeom>
          <a:solidFill>
            <a:srgbClr val="DC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5285232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21:00客流最高但路段不堵 -- 夜间道路充足，车辆数才是运力瓶颈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可视化成果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上客点热力图 -- DBSCAN聚类识别济南打车热点区域</a:t>
            </a:r>
          </a:p>
        </p:txBody>
      </p:sp>
      <p:pic>
        <p:nvPicPr>
          <p:cNvPr id="5" name="Picture 4" descr="viz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四大发现交叉分析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CROSS-ANALYSIS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97480" cy="22860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56DB"/>
                </a:solidFill>
              </a:defRPr>
            </a:pPr>
            <a:r>
              <a:t>客流 x 天气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3140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rPr dirty="0"/>
              <a:t>21:00客流峰值 + </a:t>
            </a:r>
            <a:r>
              <a:rPr dirty="0" err="1"/>
              <a:t>夏夜温度舒适</a:t>
            </a:r>
            <a:r>
              <a:rPr dirty="0"/>
              <a:t> = </a:t>
            </a:r>
            <a:r>
              <a:rPr dirty="0" err="1"/>
              <a:t>济南出租车黄金时段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697480" cy="22860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600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E8B57"/>
                </a:solidFill>
              </a:defRPr>
            </a:pPr>
            <a:r>
              <a:t>客流 x 距离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03120"/>
            <a:ext cx="242315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rPr dirty="0"/>
              <a:t>短途56.2%集中在商圈3km内，与聚类热点高度重合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514118"/>
            <a:ext cx="2697480" cy="22860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6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66C00"/>
                </a:solidFill>
              </a:defRPr>
            </a:pPr>
            <a:r>
              <a:t>客流 x 速度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97239"/>
            <a:ext cx="25152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rPr dirty="0"/>
              <a:t>21:00高峰不等于拥堵高峰，运力才是瓶颈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463040"/>
            <a:ext cx="2697480" cy="22860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DC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1600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DC3535"/>
                </a:solidFill>
              </a:defRPr>
            </a:pPr>
            <a:r>
              <a:t>天气 x 速度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103120"/>
            <a:ext cx="23792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rPr dirty="0"/>
              <a:t>雨天速度下降约8%，但客流仅降12.8%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11247120" cy="9144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005072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核心策略：21:00增派20%运力  +  周末保持满班  +  商圈3km范围增设候客区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2578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dirty="0" err="1"/>
              <a:t>济南出租车已从通勤工具转变为城市出行服务平台</a:t>
            </a:r>
            <a:endParaRPr dirty="0"/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</a:defRPr>
            </a:pPr>
            <a:r>
              <a:rPr dirty="0" err="1"/>
              <a:t>短途是基本盘</a:t>
            </a:r>
            <a:r>
              <a:rPr dirty="0"/>
              <a:t>(56.2%)，</a:t>
            </a:r>
            <a:r>
              <a:rPr dirty="0" err="1"/>
              <a:t>远程是利润盘</a:t>
            </a:r>
            <a:r>
              <a:rPr dirty="0"/>
              <a:t>(12.5%贡献28%营业额)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</a:defRPr>
            </a:pPr>
            <a:r>
              <a:rPr dirty="0" err="1"/>
              <a:t>掌握了从数据到洞察、从洞察到建议的完整分析链路</a:t>
            </a:r>
            <a:r>
              <a:rPr dirty="0"/>
              <a:t> -- </a:t>
            </a:r>
            <a:r>
              <a:rPr dirty="0" err="1"/>
              <a:t>方法论可复用到任何城市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可视化成果展示 (1/4) — 空间分布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每页展示2个可视化模块，点击模块名称可在浏览器中打开对应页面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486400" cy="48463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457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463040"/>
            <a:ext cx="502920" cy="5029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630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B57"/>
                </a:solidFill>
              </a:defRPr>
            </a:pPr>
            <a:r>
              <a:rPr dirty="0" err="1">
                <a:hlinkClick r:id="rId2" tooltip="http://127.0.0.1:8000/relay5/"/>
              </a:rPr>
              <a:t>上客点热力图</a:t>
            </a:r>
            <a:endParaRPr dirty="0">
              <a:hlinkClick r:id="rId2" tooltip="http://127.0.0.1:8000/relay5/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0732" y="2071459"/>
            <a:ext cx="5120640" cy="38404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1485" y="2205889"/>
            <a:ext cx="4133224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2000" dirty="0"/>
              <a:t>[ </a:t>
            </a:r>
            <a:r>
              <a:rPr sz="2000" dirty="0" err="1"/>
              <a:t>MapV</a:t>
            </a:r>
            <a:r>
              <a:rPr sz="2000" dirty="0"/>
              <a:t> / </a:t>
            </a:r>
            <a:r>
              <a:rPr sz="2000" dirty="0" err="1"/>
              <a:t>DBSCAN聚类</a:t>
            </a:r>
            <a:r>
              <a:rPr sz="2000" dirty="0"/>
              <a:t> ]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endParaRPr sz="2000"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2000" dirty="0"/>
              <a:t>基于DBSCAN聚类将150万条上车点聚合为35-50个热点区域。蓝冷到红热渐变配色</a:t>
            </a:r>
            <a:r>
              <a:rPr sz="2000" b="1" dirty="0"/>
              <a:t>，红色区域对应泉城路、万达、火车站等核心商圈</a:t>
            </a:r>
            <a:r>
              <a:rPr sz="2000" dirty="0"/>
              <a:t>。支持缩放漫游和分时段切换，对比早晚高峰热点的潮汐迁移。为出租车上客点和充电桩选址提供定量数据支撑</a:t>
            </a:r>
            <a:r>
              <a:rPr dirty="0"/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486400" cy="48463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46520" y="146304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5361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4630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88"/>
                </a:solidFill>
              </a:defRPr>
            </a:pPr>
            <a:r>
              <a:rPr>
                <a:hlinkClick r:id="rId2" tooltip="http://127.0.0.1:8000/relay5/"/>
              </a:rPr>
              <a:t>3D时空散点图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039112"/>
            <a:ext cx="5120640" cy="38404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2286000"/>
            <a:ext cx="3925779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dirty="0"/>
              <a:t>[ </a:t>
            </a:r>
            <a:r>
              <a:rPr sz="2000" dirty="0" err="1"/>
              <a:t>ECharts</a:t>
            </a:r>
            <a:r>
              <a:rPr sz="2000" dirty="0"/>
              <a:t> GL / WebGL ]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endParaRPr sz="2000"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2000" dirty="0" err="1"/>
              <a:t>X轴经度、Y轴纬度、Z轴时间</a:t>
            </a:r>
            <a:r>
              <a:rPr sz="2000" dirty="0"/>
              <a:t>/速度，三维空间展示出租车轨迹全貌。散点颜色编码载客状态，21:00时段散点密集验证夜间出行高峰。鼠标旋转缩放视角，框选区域查看局部密度。帮助规划者从立体视角直观理解城市出行空间行为。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可视化成果展示 (2/4) — 时间演变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每页展示2个可视化模块，点击模块名称可在浏览器中打开对应页面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48463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463040"/>
            <a:ext cx="502920" cy="5029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630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</a:defRPr>
            </a:pPr>
            <a:r>
              <a:rPr>
                <a:hlinkClick r:id="rId2" tooltip="http://127.0.0.1:8000/relay5/"/>
              </a:rPr>
              <a:t>热力动态图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03120"/>
            <a:ext cx="5120640" cy="38404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0872" y="2310070"/>
            <a:ext cx="3764735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dirty="0"/>
              <a:t>[ </a:t>
            </a:r>
            <a:r>
              <a:rPr sz="2000" dirty="0" err="1"/>
              <a:t>时间轴动画</a:t>
            </a:r>
            <a:r>
              <a:rPr sz="2000" dirty="0"/>
              <a:t> / </a:t>
            </a:r>
            <a:r>
              <a:rPr sz="2000" dirty="0" err="1"/>
              <a:t>MapV</a:t>
            </a:r>
            <a:r>
              <a:rPr sz="2000" dirty="0"/>
              <a:t> ]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endParaRPr sz="2000"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2000" dirty="0"/>
              <a:t>以1小时为步长自动播放全天24帧客流热力图，</a:t>
            </a:r>
            <a:r>
              <a:rPr sz="2000" b="1" dirty="0"/>
              <a:t>完整呈现潮汐迁移过程。</a:t>
            </a:r>
            <a:r>
              <a:rPr sz="2000" dirty="0"/>
              <a:t>底部时间轴支持拖拽跳转和播放暂停，支持0.5x/1x/2x调速。</a:t>
            </a:r>
            <a:r>
              <a:rPr sz="2000" b="1" dirty="0"/>
              <a:t>早高峰热区在住宅区，晚高峰迁移至商圈</a:t>
            </a:r>
            <a:r>
              <a:rPr sz="2000" dirty="0"/>
              <a:t>，验证了休闲出行驱动假设。为分时段运力调度提供高价值可视化参考。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486400" cy="48463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6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45720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46520" y="1463040"/>
            <a:ext cx="502920" cy="502920"/>
          </a:xfrm>
          <a:prstGeom prst="ellipse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5361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4630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6C00"/>
                </a:solidFill>
              </a:defRPr>
            </a:pPr>
            <a:r>
              <a:rPr>
                <a:hlinkClick r:id="rId2" tooltip="http://127.0.0.1:8000/relay5/"/>
              </a:rPr>
              <a:t>周客流热力图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057400"/>
            <a:ext cx="5120640" cy="38404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2392819"/>
            <a:ext cx="3871187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2000" dirty="0"/>
              <a:t>[ 7天x24h矩阵 / </a:t>
            </a:r>
            <a:r>
              <a:rPr sz="2000" dirty="0" err="1"/>
              <a:t>ECharts</a:t>
            </a:r>
            <a:r>
              <a:rPr sz="2000" dirty="0"/>
              <a:t> ]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endParaRPr sz="2000"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2000" dirty="0"/>
              <a:t>168个色块格子：横向24小时纵向7天，颜色深浅直接反映客流量高低。周六夜间亮度约为工作日2倍，反常识的周末反高清晰可见。点击任意格子弹出详细数值(</a:t>
            </a:r>
            <a:r>
              <a:rPr sz="2000" dirty="0" err="1"/>
              <a:t>客流量</a:t>
            </a:r>
            <a:r>
              <a:rPr sz="2000" dirty="0"/>
              <a:t>/</a:t>
            </a:r>
            <a:r>
              <a:rPr sz="2000" dirty="0" err="1"/>
              <a:t>同比</a:t>
            </a:r>
            <a:r>
              <a:rPr sz="2000" dirty="0"/>
              <a:t>/</a:t>
            </a:r>
            <a:r>
              <a:rPr sz="2000" dirty="0" err="1"/>
              <a:t>环比</a:t>
            </a:r>
            <a:r>
              <a:rPr lang="en-US" altLang="zh-CN" sz="2000" dirty="0"/>
              <a:t>)</a:t>
            </a:r>
            <a:r>
              <a:rPr lang="zh-CN" altLang="en-US" sz="2000" dirty="0"/>
              <a:t>。</a:t>
            </a:r>
            <a:endParaRPr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可视化成果展示 (3/4) — 关联分析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每页展示2个可视化模块，点击模块名称可在浏览器中打开对应页面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48463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DC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45720"/>
          </a:xfrm>
          <a:prstGeom prst="rect">
            <a:avLst/>
          </a:prstGeom>
          <a:solidFill>
            <a:srgbClr val="DC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463040"/>
            <a:ext cx="502920" cy="502920"/>
          </a:xfrm>
          <a:prstGeom prst="ellipse">
            <a:avLst/>
          </a:prstGeom>
          <a:solidFill>
            <a:srgbClr val="DC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630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C3535"/>
                </a:solidFill>
              </a:defRPr>
            </a:pPr>
            <a:r>
              <a:rPr>
                <a:hlinkClick r:id="rId2" tooltip="http://127.0.0.1:8000/relay5/"/>
              </a:rPr>
              <a:t>客流与天气对比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120640" cy="38404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466344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2000" dirty="0"/>
              <a:t>[ </a:t>
            </a:r>
            <a:r>
              <a:rPr sz="2000" dirty="0" err="1"/>
              <a:t>双Y轴</a:t>
            </a:r>
            <a:r>
              <a:rPr sz="2000" dirty="0"/>
              <a:t> / </a:t>
            </a:r>
            <a:r>
              <a:rPr sz="2000" dirty="0" err="1"/>
              <a:t>ECharts</a:t>
            </a:r>
            <a:r>
              <a:rPr sz="2000" dirty="0"/>
              <a:t> </a:t>
            </a:r>
            <a:r>
              <a:rPr sz="2000" dirty="0" err="1"/>
              <a:t>联动</a:t>
            </a:r>
            <a:r>
              <a:rPr sz="2000" dirty="0"/>
              <a:t> ]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endParaRPr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2000" dirty="0" err="1"/>
              <a:t>同一时间轴叠加客流折线与温度湿度曲线，双Y轴设计解决不同量纲对比问题。</a:t>
            </a:r>
            <a:r>
              <a:rPr sz="2000" b="1" dirty="0" err="1"/>
              <a:t>温度与客流波动高度同步</a:t>
            </a:r>
            <a:r>
              <a:rPr sz="2000" b="1" dirty="0"/>
              <a:t>(r=0.595)，</a:t>
            </a:r>
            <a:r>
              <a:rPr sz="2000" b="1" dirty="0" err="1"/>
              <a:t>正相关关系直观呈现</a:t>
            </a:r>
            <a:r>
              <a:rPr sz="2000" dirty="0" err="1"/>
              <a:t>。悬停同时显示客流+天气数值，缩放窗口查看特定时段。为天气敏感型运力调度提供依据，寒潮预警自动增派车辆</a:t>
            </a:r>
            <a:r>
              <a:rPr dirty="0"/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486400" cy="48463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457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46520" y="1463040"/>
            <a:ext cx="502920" cy="5029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5361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4630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B57"/>
                </a:solidFill>
              </a:defRPr>
            </a:pPr>
            <a:r>
              <a:rPr>
                <a:hlinkClick r:id="rId2" tooltip="http://127.0.0.1:8000/relay5/"/>
              </a:rPr>
              <a:t>路程分布堆叠图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057400"/>
            <a:ext cx="5120640" cy="38404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97980" y="2221992"/>
            <a:ext cx="4297680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2000" dirty="0"/>
              <a:t>[ </a:t>
            </a:r>
            <a:r>
              <a:rPr sz="2000" dirty="0" err="1"/>
              <a:t>堆叠面积</a:t>
            </a:r>
            <a:r>
              <a:rPr sz="2000" dirty="0"/>
              <a:t> / </a:t>
            </a:r>
            <a:r>
              <a:rPr sz="2000" dirty="0" err="1"/>
              <a:t>ECharts</a:t>
            </a:r>
            <a:r>
              <a:rPr sz="2000" dirty="0"/>
              <a:t> ]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endParaRPr sz="2000"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2000" dirty="0" err="1"/>
              <a:t>绿色</a:t>
            </a:r>
            <a:r>
              <a:rPr sz="2000" dirty="0"/>
              <a:t>(近&lt;3km)、</a:t>
            </a:r>
            <a:r>
              <a:rPr sz="2000" dirty="0" err="1"/>
              <a:t>蓝色</a:t>
            </a:r>
            <a:r>
              <a:rPr sz="2000" dirty="0"/>
              <a:t>(中3-10km)、</a:t>
            </a:r>
            <a:r>
              <a:rPr sz="2000" dirty="0" err="1"/>
              <a:t>橙色</a:t>
            </a:r>
            <a:r>
              <a:rPr sz="2000" dirty="0"/>
              <a:t>(远&gt;10km)三色堆叠一目了然。</a:t>
            </a:r>
            <a:r>
              <a:rPr sz="2000" b="1" dirty="0"/>
              <a:t>近程占比稳定56%，早晚高峰升至62%</a:t>
            </a:r>
            <a:r>
              <a:rPr sz="2000" dirty="0"/>
              <a:t>，通勤接驳为主要场景。图例可切换显示类别，</a:t>
            </a:r>
            <a:r>
              <a:rPr sz="2000" b="1" dirty="0"/>
              <a:t>远程仅占12.5%却贡献约28%营业额。</a:t>
            </a:r>
            <a:r>
              <a:rPr sz="2000" dirty="0"/>
              <a:t>差异化定价的直接依据：短途高频保黏性，远程高价创利润。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可视化成果展示 (4/4) — 实时监测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每页展示2个可视化模块，点击模块名称可在浏览器中打开对应页面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48463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7B4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45720"/>
          </a:xfrm>
          <a:prstGeom prst="rect">
            <a:avLst/>
          </a:prstGeom>
          <a:solidFill>
            <a:srgbClr val="7B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463040"/>
            <a:ext cx="502920" cy="502920"/>
          </a:xfrm>
          <a:prstGeom prst="ellipse">
            <a:avLst/>
          </a:prstGeom>
          <a:solidFill>
            <a:srgbClr val="7B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630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B4BD8"/>
                </a:solidFill>
              </a:defRPr>
            </a:pPr>
            <a:r>
              <a:rPr>
                <a:hlinkClick r:id="rId2" tooltip="http://127.0.0.1:8000/relay5/"/>
              </a:rPr>
              <a:t>载客车仪表盘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120640" cy="38404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4663440" cy="3118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2000" dirty="0"/>
              <a:t>[ </a:t>
            </a:r>
            <a:r>
              <a:rPr sz="2000" dirty="0" err="1"/>
              <a:t>四色预警</a:t>
            </a:r>
            <a:r>
              <a:rPr sz="2000" dirty="0"/>
              <a:t> / </a:t>
            </a:r>
            <a:r>
              <a:rPr sz="2000" dirty="0" err="1"/>
              <a:t>ECharts</a:t>
            </a:r>
            <a:r>
              <a:rPr sz="2000" dirty="0"/>
              <a:t> ]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endParaRPr sz="2000"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2000" dirty="0"/>
              <a:t>实时显示载客车辆数、拥堵比例、平均车速三大核心运营KPI指标。仪表盘+数字大屏风格，</a:t>
            </a:r>
            <a:r>
              <a:rPr sz="2000" b="1" dirty="0"/>
              <a:t>绿黄橙红四级色标预警状态一目了然</a:t>
            </a:r>
            <a:r>
              <a:rPr sz="2000" dirty="0"/>
              <a:t>。凌晨4:00载客车仅2辆(</a:t>
            </a:r>
            <a:r>
              <a:rPr sz="2000" dirty="0" err="1"/>
              <a:t>红色</a:t>
            </a:r>
            <a:r>
              <a:rPr sz="2000" dirty="0"/>
              <a:t>)，21:00达275辆(</a:t>
            </a:r>
            <a:r>
              <a:rPr sz="2000" dirty="0" err="1"/>
              <a:t>绿色</a:t>
            </a:r>
            <a:r>
              <a:rPr sz="2000" dirty="0"/>
              <a:t>)，</a:t>
            </a:r>
            <a:r>
              <a:rPr sz="2000" dirty="0" err="1"/>
              <a:t>潮汐波动剧烈。适合交通指挥中心大屏部署，一屏掌握出租车实时运营全貌</a:t>
            </a:r>
            <a:r>
              <a:rPr sz="2000" dirty="0"/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486400" cy="48463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46520" y="1463040"/>
            <a:ext cx="502920" cy="5029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5361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4630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</a:defRPr>
            </a:pPr>
            <a:r>
              <a:rPr>
                <a:hlinkClick r:id="rId2" tooltip="http://127.0.0.1:8000/relay5/"/>
              </a:rPr>
              <a:t>道路速度七日图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057400"/>
            <a:ext cx="5120640" cy="38404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86600" y="2194560"/>
            <a:ext cx="4297680" cy="3118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2000" dirty="0"/>
              <a:t>[ </a:t>
            </a:r>
            <a:r>
              <a:rPr sz="2000" dirty="0" err="1"/>
              <a:t>多折线</a:t>
            </a:r>
            <a:r>
              <a:rPr sz="2000" dirty="0"/>
              <a:t> / </a:t>
            </a:r>
            <a:r>
              <a:rPr sz="2000" dirty="0" err="1"/>
              <a:t>ECharts</a:t>
            </a:r>
            <a:r>
              <a:rPr sz="2000" dirty="0"/>
              <a:t> </a:t>
            </a:r>
            <a:r>
              <a:rPr sz="2000" dirty="0" err="1"/>
              <a:t>叠加</a:t>
            </a:r>
            <a:r>
              <a:rPr sz="2000" dirty="0"/>
              <a:t> ]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endParaRPr sz="2000" dirty="0"/>
          </a:p>
          <a:p>
            <a:pPr algn="l">
              <a:spcBef>
                <a:spcPts val="1000"/>
              </a:spcBef>
              <a:defRPr sz="1400" b="0">
                <a:solidFill>
                  <a:srgbClr val="333333"/>
                </a:solidFill>
              </a:defRPr>
            </a:pPr>
            <a:r>
              <a:rPr sz="2000" dirty="0" err="1"/>
              <a:t>周一至周日七条彩色速度曲线叠加，越低</a:t>
            </a:r>
            <a:r>
              <a:rPr sz="2000" dirty="0"/>
              <a:t>=越拥堵，直观对比各日交通状况。</a:t>
            </a:r>
            <a:r>
              <a:rPr sz="2000" b="1" dirty="0"/>
              <a:t>工作日8点和18点出现速度双谷，周末全天速度显著高于工作日</a:t>
            </a:r>
            <a:r>
              <a:rPr sz="2000" dirty="0"/>
              <a:t>。图例可单独高亮某天，任意两天对比差异。辅助市民选择最佳出行时段，为限行政策效果评估提供量化工具。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项目成果与团队收获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2286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846320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dirty="0" err="1"/>
              <a:t>交付成果</a:t>
            </a:r>
            <a:endParaRPr dirty="0"/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</a:defRPr>
            </a:pPr>
            <a:r>
              <a:rPr dirty="0"/>
              <a:t>- </a:t>
            </a:r>
            <a:r>
              <a:rPr dirty="0" err="1"/>
              <a:t>Django+ECharts+MapV全栈Web分析平台</a:t>
            </a:r>
            <a:endParaRPr dirty="0"/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</a:defRPr>
            </a:pPr>
            <a:r>
              <a:rPr dirty="0"/>
              <a:t>- 150万条GPS数据清洗、聚类、特征提取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</a:defRPr>
            </a:pPr>
            <a:r>
              <a:rPr dirty="0"/>
              <a:t>- 6项核心量化发现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</a:defRPr>
            </a:pPr>
            <a:r>
              <a:rPr dirty="0"/>
              <a:t>- </a:t>
            </a:r>
            <a:r>
              <a:rPr b="1" dirty="0"/>
              <a:t>3条可落地的交通管理建议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</a:defRPr>
            </a:pPr>
            <a:r>
              <a:rPr dirty="0"/>
              <a:t>- </a:t>
            </a:r>
            <a:r>
              <a:rPr dirty="0" err="1"/>
              <a:t>可在其他城市复用的完整方法论文档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29400" y="1508760"/>
            <a:ext cx="4846320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dirty="0" err="1"/>
              <a:t>团队成长</a:t>
            </a:r>
            <a:endParaRPr dirty="0"/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</a:defRPr>
            </a:pPr>
            <a:endParaRPr dirty="0"/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</a:defRPr>
            </a:pPr>
            <a:r>
              <a:rPr dirty="0"/>
              <a:t>- </a:t>
            </a:r>
            <a:r>
              <a:rPr dirty="0" err="1"/>
              <a:t>数据思维：</a:t>
            </a:r>
            <a:r>
              <a:rPr b="1" dirty="0" err="1"/>
              <a:t>从凭感觉判断到用数据说话</a:t>
            </a:r>
            <a:endParaRPr b="1" dirty="0"/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</a:defRPr>
            </a:pPr>
            <a:r>
              <a:rPr dirty="0"/>
              <a:t>- </a:t>
            </a:r>
            <a:r>
              <a:rPr dirty="0" err="1"/>
              <a:t>全栈能力：Django后端</a:t>
            </a:r>
            <a:r>
              <a:rPr dirty="0"/>
              <a:t> + </a:t>
            </a:r>
            <a:r>
              <a:rPr dirty="0" err="1"/>
              <a:t>ECharts前端</a:t>
            </a:r>
            <a:r>
              <a:rPr dirty="0"/>
              <a:t> + </a:t>
            </a:r>
            <a:r>
              <a:rPr b="1" dirty="0" err="1"/>
              <a:t>Python分析</a:t>
            </a:r>
            <a:endParaRPr b="1" dirty="0"/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</a:defRPr>
            </a:pPr>
            <a:r>
              <a:rPr dirty="0"/>
              <a:t>- </a:t>
            </a:r>
            <a:r>
              <a:rPr dirty="0" err="1"/>
              <a:t>工程素养：异常值处理、模块化设计、版本管理</a:t>
            </a:r>
            <a:endParaRPr dirty="0"/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</a:defRPr>
            </a:pPr>
            <a:r>
              <a:rPr dirty="0"/>
              <a:t>- </a:t>
            </a:r>
            <a:r>
              <a:rPr dirty="0" err="1"/>
              <a:t>表达能力：把复杂分析结果用简洁图表说清楚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11064240" cy="2011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1060704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rPr sz="1600" dirty="0" err="1"/>
              <a:t>不足与改进方向</a:t>
            </a:r>
            <a:endParaRPr sz="1600" dirty="0"/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endParaRPr sz="1600" dirty="0"/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r>
              <a:rPr sz="1600" dirty="0" err="1"/>
              <a:t>数据量</a:t>
            </a:r>
            <a:r>
              <a:rPr sz="1600" b="1" dirty="0"/>
              <a:t>: 仅7天 -&gt; </a:t>
            </a:r>
            <a:r>
              <a:rPr sz="1600" dirty="0"/>
              <a:t>扩展至全量3个月      </a:t>
            </a:r>
            <a:r>
              <a:rPr sz="1600" dirty="0" err="1"/>
              <a:t>方法深度</a:t>
            </a:r>
            <a:r>
              <a:rPr sz="1600" dirty="0"/>
              <a:t>: </a:t>
            </a:r>
            <a:r>
              <a:rPr sz="1600" b="1" dirty="0" err="1"/>
              <a:t>描述性分析</a:t>
            </a:r>
            <a:r>
              <a:rPr sz="1600" b="1" dirty="0"/>
              <a:t> </a:t>
            </a:r>
            <a:r>
              <a:rPr sz="1600" dirty="0"/>
              <a:t>-&gt; LSTM/</a:t>
            </a:r>
            <a:r>
              <a:rPr sz="1600" dirty="0" err="1"/>
              <a:t>Transformer预测模型</a:t>
            </a:r>
            <a:endParaRPr sz="1600" dirty="0"/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r>
              <a:rPr sz="1600" dirty="0" err="1"/>
              <a:t>数据源</a:t>
            </a:r>
            <a:r>
              <a:rPr sz="1600" dirty="0"/>
              <a:t>: </a:t>
            </a:r>
            <a:r>
              <a:rPr sz="1600" dirty="0" err="1"/>
              <a:t>单一出租车</a:t>
            </a:r>
            <a:r>
              <a:rPr sz="1600" dirty="0"/>
              <a:t> -&gt; </a:t>
            </a:r>
            <a:r>
              <a:rPr sz="1600" dirty="0" err="1"/>
              <a:t>融合公交</a:t>
            </a:r>
            <a:r>
              <a:rPr sz="1600" dirty="0"/>
              <a:t>/</a:t>
            </a:r>
            <a:r>
              <a:rPr sz="1600" dirty="0" err="1"/>
              <a:t>地铁</a:t>
            </a:r>
            <a:r>
              <a:rPr sz="1600" dirty="0"/>
              <a:t>/</a:t>
            </a:r>
            <a:r>
              <a:rPr sz="1600" dirty="0" err="1"/>
              <a:t>共享单车</a:t>
            </a:r>
            <a:r>
              <a:rPr sz="1600" dirty="0"/>
              <a:t>      </a:t>
            </a:r>
            <a:r>
              <a:rPr sz="1600" dirty="0" err="1"/>
              <a:t>POI缺失</a:t>
            </a:r>
            <a:r>
              <a:rPr sz="1600" dirty="0"/>
              <a:t> -&gt; </a:t>
            </a:r>
            <a:r>
              <a:rPr sz="1600" dirty="0" err="1"/>
              <a:t>补充兴趣点数据精细分析</a:t>
            </a:r>
            <a:endParaRPr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未来扩展路线图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54864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Phase 1  短期 (1-2月)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200400" cy="18288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接入全量3个月数据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r>
              <a:t>道路级速度热力图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r>
              <a:t>补充POI数据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r>
              <a:t>移动端适配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r>
              <a:t>数据导出功能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5486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Phase 2  中期 (3-6月)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103120"/>
            <a:ext cx="3200400" cy="18288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24028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rPr dirty="0" err="1"/>
              <a:t>Kafka实时数据流</a:t>
            </a:r>
            <a:endParaRPr dirty="0"/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r>
              <a:rPr dirty="0" err="1"/>
              <a:t>LSTM客流预测</a:t>
            </a:r>
            <a:endParaRPr dirty="0"/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r>
              <a:rPr dirty="0" err="1"/>
              <a:t>融合多模式数据</a:t>
            </a:r>
            <a:endParaRPr dirty="0"/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r>
              <a:rPr dirty="0" err="1"/>
              <a:t>司机端APP</a:t>
            </a:r>
            <a:endParaRPr dirty="0"/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r>
              <a:rPr dirty="0" err="1"/>
              <a:t>AB实验框架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566160" cy="548640"/>
          </a:xfrm>
          <a:prstGeom prst="roundRect">
            <a:avLst/>
          </a:prstGeom>
          <a:solidFill>
            <a:srgbClr val="7B4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Phase 3  长期 (6-12月)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103120"/>
            <a:ext cx="3200400" cy="18288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224028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城市交通数字孪生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r>
              <a:t>多Agent仿真推演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r>
              <a:t>政企数据开放平台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r>
              <a:t>碳减排评估模型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</a:defRPr>
            </a:pPr>
            <a:r>
              <a:t>AI实时运力调度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11247120" cy="13716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最终愿景</a:t>
            </a:r>
          </a:p>
          <a:p>
            <a:pPr algn="ctr">
              <a:spcBef>
                <a:spcPts val="1200"/>
              </a:spcBef>
              <a:defRPr sz="1700" b="0">
                <a:solidFill>
                  <a:srgbClr val="FFFFFF"/>
                </a:solidFill>
              </a:defRPr>
            </a:pPr>
            <a:r>
              <a:t>打造济南市综合性交通大数据决策支持系统 -- 让每一个交通决策都有数据可依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1001</Words>
  <Application>Microsoft Office PowerPoint</Application>
  <PresentationFormat>宽屏</PresentationFormat>
  <Paragraphs>247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旭东 王</cp:lastModifiedBy>
  <cp:revision>5</cp:revision>
  <dcterms:created xsi:type="dcterms:W3CDTF">2013-01-27T09:14:16Z</dcterms:created>
  <dcterms:modified xsi:type="dcterms:W3CDTF">2026-07-22T09:19:08Z</dcterms:modified>
  <cp:category/>
</cp:coreProperties>
</file>